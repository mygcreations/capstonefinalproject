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21"/>
    </p:embeddedFont>
    <p:embeddedFont>
      <p:font typeface="Arial" charset="1" panose="020B0604020202020204"/>
      <p:regular r:id="rId22"/>
    </p:embeddedFont>
    <p:embeddedFont>
      <p:font typeface="Calibri (MS)" charset="1" panose="020F0502020204030204"/>
      <p:regular r:id="rId24"/>
    </p:embeddedFont>
    <p:embeddedFont>
      <p:font typeface="Calibri (MS) Bold" charset="1" panose="020F07020304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https://raw.githubusercontent.com/MYGCREATIONS/CapstoneFinalProject/main/README.md#:~:text=publicly%20accessible.%20,The" TargetMode="External" Type="http://schemas.openxmlformats.org/officeDocument/2006/relationships/hyperlink"/><Relationship Id="rId8" Target="https://raw.githubusercontent.com/MYGCREATIONS/CapstoneFinalProject/main/README.md#:~:text=SSH%20access%20is%20enabled%29%20,9.%20Outputs%20After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raw.githubusercontent.com/MYGCREATIONS/CapstoneFinalProject/main/README.md#:~:text=emails%2C%20and%20instance%20types%20,instance%20in%20a%20DB" TargetMode="External" Type="http://schemas.openxmlformats.org/officeDocument/2006/relationships/hyperlink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15" Target="../media/image23.png" Type="http://schemas.openxmlformats.org/officeDocument/2006/relationships/image"/><Relationship Id="rId16" Target="../media/image24.svg" Type="http://schemas.openxmlformats.org/officeDocument/2006/relationships/image"/><Relationship Id="rId17" Target="https://raw.githubusercontent.com/MYGCREATIONS/CapstoneFinalProject/main/README.md#:~:text=publicly%20accessible.%20,The" TargetMode="External" Type="http://schemas.openxmlformats.org/officeDocument/2006/relationships/hyperlink"/><Relationship Id="rId18" Target="https://raw.githubusercontent.com/MYGCREATIONS/CapstoneFinalProject/main/README.md#:~:text=SSH%20access%20is%20enabled%29%20,9.%20Outputs%20After" TargetMode="External" Type="http://schemas.openxmlformats.org/officeDocument/2006/relationships/hyperlink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https://raw.githubusercontent.com/MYGCREATIONS/CapstoneFinalProject/main/README.md#:~:text=resources.%20,CloudWatch%20monitoring%20and%20alarms%206" TargetMode="External" Type="http://schemas.openxmlformats.org/officeDocument/2006/relationships/hyperlink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https://raw.githubusercontent.com/MYGCREATIONS/CapstoneFinalProject/main/README.md#:~:text=resources.%20,CloudWatch%20monitoring%20and%20alarms%206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0" y="0"/>
            <a:ext cx="8229600" cy="10287000"/>
            <a:chOff x="0" y="0"/>
            <a:chExt cx="10972800" cy="13716000"/>
          </a:xfrm>
        </p:grpSpPr>
        <p:sp>
          <p:nvSpPr>
            <p:cNvPr name="Freeform 3" id="3" descr="/home/oai/share/38eb664c-8469-4596-9ba7-da158a509efd.png"/>
            <p:cNvSpPr/>
            <p:nvPr/>
          </p:nvSpPr>
          <p:spPr>
            <a:xfrm flipH="false" flipV="false" rot="0">
              <a:off x="0" y="0"/>
              <a:ext cx="10972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750" t="0" r="-4375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5673" y="947966"/>
            <a:ext cx="11641741" cy="1819018"/>
            <a:chOff x="0" y="0"/>
            <a:chExt cx="15522321" cy="24253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22321" cy="2425319"/>
            </a:xfrm>
            <a:custGeom>
              <a:avLst/>
              <a:gdLst/>
              <a:ahLst/>
              <a:cxnLst/>
              <a:rect r="r" b="b" t="t" l="l"/>
              <a:pathLst>
                <a:path h="2425319" w="15522321">
                  <a:moveTo>
                    <a:pt x="0" y="0"/>
                  </a:moveTo>
                  <a:lnTo>
                    <a:pt x="15522321" y="0"/>
                  </a:lnTo>
                  <a:lnTo>
                    <a:pt x="15522321" y="2425319"/>
                  </a:lnTo>
                  <a:lnTo>
                    <a:pt x="0" y="24253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619" r="0" b="-7462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673" y="919544"/>
            <a:ext cx="11641741" cy="1847440"/>
            <a:chOff x="0" y="0"/>
            <a:chExt cx="15522321" cy="24632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22325" cy="2463259"/>
            </a:xfrm>
            <a:custGeom>
              <a:avLst/>
              <a:gdLst/>
              <a:ahLst/>
              <a:cxnLst/>
              <a:rect r="r" b="b" t="t" l="l"/>
              <a:pathLst>
                <a:path h="2463259" w="15522325">
                  <a:moveTo>
                    <a:pt x="0" y="0"/>
                  </a:moveTo>
                  <a:lnTo>
                    <a:pt x="15522325" y="0"/>
                  </a:lnTo>
                  <a:lnTo>
                    <a:pt x="15522325" y="2463259"/>
                  </a:lnTo>
                  <a:lnTo>
                    <a:pt x="0" y="2463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785" r="0" b="-7278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522321" cy="2491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320"/>
                </a:lnSpc>
              </a:pPr>
              <a:r>
                <a:rPr lang="en-US" sz="6100" b="true">
                  <a:solidFill>
                    <a:srgbClr val="030A1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Capstone Project – Level 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4297680"/>
            <a:ext cx="8778240" cy="1079040"/>
            <a:chOff x="0" y="0"/>
            <a:chExt cx="11704320" cy="1438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04320" cy="1438783"/>
            </a:xfrm>
            <a:custGeom>
              <a:avLst/>
              <a:gdLst/>
              <a:ahLst/>
              <a:cxnLst/>
              <a:rect r="r" b="b" t="t" l="l"/>
              <a:pathLst>
                <a:path h="1438783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438783"/>
                  </a:lnTo>
                  <a:lnTo>
                    <a:pt x="0" y="14387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400" r="0" b="-10839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4283392"/>
            <a:ext cx="8778240" cy="1093327"/>
            <a:chOff x="0" y="0"/>
            <a:chExt cx="11704320" cy="14577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04320" cy="1457771"/>
            </a:xfrm>
            <a:custGeom>
              <a:avLst/>
              <a:gdLst/>
              <a:ahLst/>
              <a:cxnLst/>
              <a:rect r="r" b="b" t="t" l="l"/>
              <a:pathLst>
                <a:path h="1457771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457771"/>
                  </a:lnTo>
                  <a:lnTo>
                    <a:pt x="0" y="14577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6443" r="0" b="-10644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704320" cy="147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4BAE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Cloud native Personal Blog using WordPress on AWS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5760720"/>
            <a:ext cx="10389013" cy="829675"/>
            <a:chOff x="0" y="0"/>
            <a:chExt cx="13852017" cy="11062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52017" cy="1106297"/>
            </a:xfrm>
            <a:custGeom>
              <a:avLst/>
              <a:gdLst/>
              <a:ahLst/>
              <a:cxnLst/>
              <a:rect r="r" b="b" t="t" l="l"/>
              <a:pathLst>
                <a:path h="1106297" w="13852017">
                  <a:moveTo>
                    <a:pt x="0" y="0"/>
                  </a:moveTo>
                  <a:lnTo>
                    <a:pt x="13852017" y="0"/>
                  </a:lnTo>
                  <a:lnTo>
                    <a:pt x="13852017" y="1106297"/>
                  </a:lnTo>
                  <a:lnTo>
                    <a:pt x="0" y="11062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806" r="0" b="-19380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5743813"/>
            <a:ext cx="10389013" cy="846592"/>
            <a:chOff x="0" y="0"/>
            <a:chExt cx="13852017" cy="11287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52018" cy="1128783"/>
            </a:xfrm>
            <a:custGeom>
              <a:avLst/>
              <a:gdLst/>
              <a:ahLst/>
              <a:cxnLst/>
              <a:rect r="r" b="b" t="t" l="l"/>
              <a:pathLst>
                <a:path h="1128783" w="13852018">
                  <a:moveTo>
                    <a:pt x="0" y="0"/>
                  </a:moveTo>
                  <a:lnTo>
                    <a:pt x="13852018" y="0"/>
                  </a:lnTo>
                  <a:lnTo>
                    <a:pt x="13852018" y="1128783"/>
                  </a:lnTo>
                  <a:lnTo>
                    <a:pt x="0" y="11287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113" r="0" b="-18911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3852017" cy="1147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6B9DD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Infrastructure as Code with Terraform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8092440"/>
            <a:ext cx="7315200" cy="914400"/>
            <a:chOff x="0" y="0"/>
            <a:chExt cx="975360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71" r="0" b="-10577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8085296"/>
            <a:ext cx="7315200" cy="921544"/>
            <a:chOff x="0" y="0"/>
            <a:chExt cx="9753600" cy="12287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53600" cy="1228725"/>
            </a:xfrm>
            <a:custGeom>
              <a:avLst/>
              <a:gdLst/>
              <a:ahLst/>
              <a:cxnLst/>
              <a:rect r="r" b="b" t="t" l="l"/>
              <a:pathLst>
                <a:path h="122872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28725"/>
                  </a:lnTo>
                  <a:lnTo>
                    <a:pt x="0" y="12287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671" r="0" b="-10467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9753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A8295"/>
                  </a:solidFill>
                  <a:latin typeface="Arial"/>
                  <a:ea typeface="Arial"/>
                  <a:cs typeface="Arial"/>
                  <a:sym typeface="Arial"/>
                </a:rPr>
                <a:t>13 February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2801600" cy="1005840"/>
            <a:chOff x="0" y="0"/>
            <a:chExt cx="170688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819" r="0" b="-19781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17232"/>
            <a:ext cx="12801600" cy="1020127"/>
            <a:chOff x="0" y="0"/>
            <a:chExt cx="17068800" cy="1360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06880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60170"/>
                  </a:lnTo>
                  <a:lnTo>
                    <a:pt x="0" y="13601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518" r="0" b="-1945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7068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30A1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Introduction &amp; Goals</a:t>
              </a:r>
            </a:p>
          </p:txBody>
        </p:sp>
      </p:grpSp>
      <p:sp>
        <p:nvSpPr>
          <p:cNvPr name="Freeform 7" id="7" descr="preencoded.png"/>
          <p:cNvSpPr/>
          <p:nvPr/>
        </p:nvSpPr>
        <p:spPr>
          <a:xfrm flipH="false" flipV="false" rot="0">
            <a:off x="16276320" y="640080"/>
            <a:ext cx="1097280" cy="1097280"/>
          </a:xfrm>
          <a:custGeom>
            <a:avLst/>
            <a:gdLst/>
            <a:ahLst/>
            <a:cxnLst/>
            <a:rect r="r" b="b" t="t" l="l"/>
            <a:pathLst>
              <a:path h="1097280" w="1097280">
                <a:moveTo>
                  <a:pt x="0" y="0"/>
                </a:moveTo>
                <a:lnTo>
                  <a:pt x="1097280" y="0"/>
                </a:lnTo>
                <a:lnTo>
                  <a:pt x="109728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80160" y="2489978"/>
            <a:ext cx="12435840" cy="5739622"/>
            <a:chOff x="0" y="0"/>
            <a:chExt cx="16581120" cy="76528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81120" cy="7652766"/>
            </a:xfrm>
            <a:custGeom>
              <a:avLst/>
              <a:gdLst/>
              <a:ahLst/>
              <a:cxnLst/>
              <a:rect r="r" b="b" t="t" l="l"/>
              <a:pathLst>
                <a:path h="7652766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7652766"/>
                  </a:lnTo>
                  <a:lnTo>
                    <a:pt x="0" y="76527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8" t="0" r="-925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0160" y="2475033"/>
            <a:ext cx="12435840" cy="5754567"/>
            <a:chOff x="0" y="0"/>
            <a:chExt cx="16581120" cy="76727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81120" cy="7672753"/>
            </a:xfrm>
            <a:custGeom>
              <a:avLst/>
              <a:gdLst/>
              <a:ahLst/>
              <a:cxnLst/>
              <a:rect r="r" b="b" t="t" l="l"/>
              <a:pathLst>
                <a:path h="7672753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7672753"/>
                  </a:lnTo>
                  <a:lnTo>
                    <a:pt x="0" y="7672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371" t="0" r="-937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581120" cy="7691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47907" indent="-249302" lvl="2">
                <a:lnSpc>
                  <a:spcPts val="3719"/>
                </a:lnSpc>
                <a:buFont typeface="Arial"/>
                <a:buChar char="⚬"/>
              </a:pPr>
              <a:r>
                <a:rPr lang="en-US" b="true" sz="3099">
                  <a:solidFill>
                    <a:srgbClr val="2E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Develop a personal portfolio and blog site using WordPress with a MySQL backend</a:t>
              </a:r>
            </a:p>
            <a:p>
              <a:pPr algn="l" marL="747907" indent="-249302" lvl="2">
                <a:lnSpc>
                  <a:spcPts val="3719"/>
                </a:lnSpc>
                <a:buFont typeface="Arial"/>
                <a:buChar char="⚬"/>
              </a:pPr>
              <a:r>
                <a:rPr lang="en-US" b="true" sz="3099">
                  <a:solidFill>
                    <a:srgbClr val="2E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Automate deployment on AWS using Terraform to ensure reproducibility and scalability</a:t>
              </a:r>
            </a:p>
            <a:p>
              <a:pPr algn="l" marL="747907" indent="-249302" lvl="2">
                <a:lnSpc>
                  <a:spcPts val="3719"/>
                </a:lnSpc>
                <a:buFont typeface="Arial"/>
                <a:buChar char="⚬"/>
              </a:pPr>
              <a:r>
                <a:rPr lang="en-US" b="true" sz="3099">
                  <a:solidFill>
                    <a:srgbClr val="2E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Design a secure, modular and scalable architecture across network, compute and database layers</a:t>
              </a:r>
            </a:p>
            <a:p>
              <a:pPr algn="l" marL="747907" indent="-249302" lvl="2">
                <a:lnSpc>
                  <a:spcPts val="3719"/>
                </a:lnSpc>
                <a:buFont typeface="Arial"/>
                <a:buChar char="⚬"/>
              </a:pPr>
              <a:r>
                <a:rPr lang="en-US" b="true" sz="3099">
                  <a:solidFill>
                    <a:srgbClr val="2E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Enable self‑directed learning and ownership of DevOps processes</a:t>
              </a:r>
            </a:p>
            <a:p>
              <a:pPr algn="l" marL="747907" indent="-249302" lvl="2">
                <a:lnSpc>
                  <a:spcPts val="3719"/>
                </a:lnSpc>
                <a:buFont typeface="Arial"/>
                <a:buChar char="⚬"/>
              </a:pPr>
              <a:r>
                <a:rPr lang="en-US" b="true" sz="3099">
                  <a:solidFill>
                    <a:srgbClr val="2E3A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Deliver a fully functional site with custom blog posts and author page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9555480"/>
            <a:ext cx="16459200" cy="457200"/>
            <a:chOff x="0" y="0"/>
            <a:chExt cx="21945600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972" r="0" b="-65097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9541193"/>
            <a:ext cx="16459200" cy="471488"/>
            <a:chOff x="0" y="0"/>
            <a:chExt cx="21945600" cy="6286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628650"/>
            </a:xfrm>
            <a:custGeom>
              <a:avLst/>
              <a:gdLst/>
              <a:ahLst/>
              <a:cxnLst/>
              <a:rect r="r" b="b" t="t" l="l"/>
              <a:pathLst>
                <a:path h="6286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204" r="0" b="-63020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8"/>
                </a:lnSpc>
              </a:pPr>
              <a:r>
                <a:rPr lang="en-US" sz="1200" u="sng">
                  <a:solidFill>
                    <a:srgbClr val="0563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[1]</a:t>
              </a:r>
              <a:r>
                <a:rPr lang="en-US" sz="1200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7" tooltip="https://raw.githubusercontent.com/MYGCREATIONS/CapstoneFinalProject/main/README.md#:~:text=publicly%20accessible.%20,The"/>
                </a:rPr>
                <a:t>[2]</a:t>
              </a:r>
              <a:r>
                <a:rPr lang="en-US" sz="1200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8" tooltip="https://raw.githubusercontent.com/MYGCREATIONS/CapstoneFinalProject/main/README.md#:~:text=SSH%20access%20is%20enabled%29%20,9.%20Outputs%20After"/>
                </a:rPr>
                <a:t>[3]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2801600" cy="1005840"/>
            <a:chOff x="0" y="0"/>
            <a:chExt cx="170688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819" r="0" b="-19781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17232"/>
            <a:ext cx="12801600" cy="1020127"/>
            <a:chOff x="0" y="0"/>
            <a:chExt cx="17068800" cy="1360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06880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60170"/>
                  </a:lnTo>
                  <a:lnTo>
                    <a:pt x="0" y="13601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518" r="0" b="-1945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7068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30A1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Levels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14400" y="3021111"/>
          <a:ext cx="16459200" cy="39497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9130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Level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Key Components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1DF"/>
                    </a:solidFill>
                  </a:tcPr>
                </a:tc>
              </a:tr>
              <a:tr h="15183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59"/>
                        </a:lnSpc>
                        <a:defRPr/>
                      </a:pPr>
                      <a:r>
                        <a:rPr lang="en-US" sz="37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Level 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5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EC2 Web server, VPC with public &amp; private subnets, local MySQL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5183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59"/>
                        </a:lnSpc>
                        <a:defRPr/>
                      </a:pPr>
                      <a:r>
                        <a:rPr lang="en-US" sz="3799" b="true">
                          <a:solidFill>
                            <a:srgbClr val="4BAE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Level 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59"/>
                        </a:lnSpc>
                        <a:defRPr/>
                      </a:pPr>
                      <a:r>
                        <a:rPr lang="en-US" sz="3799" b="true">
                          <a:solidFill>
                            <a:srgbClr val="4BAE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Adds RDS in a private subnet and adjusts scripts for remote DB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914400" y="9555480"/>
            <a:ext cx="16459200" cy="457200"/>
            <a:chOff x="0" y="0"/>
            <a:chExt cx="219456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972" r="0" b="-65097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541193"/>
            <a:ext cx="16459200" cy="471488"/>
            <a:chOff x="0" y="0"/>
            <a:chExt cx="21945600" cy="6286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628650"/>
            </a:xfrm>
            <a:custGeom>
              <a:avLst/>
              <a:gdLst/>
              <a:ahLst/>
              <a:cxnLst/>
              <a:rect r="r" b="b" t="t" l="l"/>
              <a:pathLst>
                <a:path h="6286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204" r="0" b="-63020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8"/>
                </a:lnSpc>
              </a:pPr>
              <a:r>
                <a:rPr lang="en-US" sz="1200" u="sng">
                  <a:solidFill>
                    <a:srgbClr val="0563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[4][5][6]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202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05840" y="346710"/>
            <a:ext cx="16276320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Level-2 Enterprise Architecture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2960" y="1336719"/>
            <a:ext cx="16459200" cy="10972800"/>
            <a:chOff x="0" y="0"/>
            <a:chExt cx="21945600" cy="146304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21945600" cy="14630400"/>
            </a:xfrm>
            <a:custGeom>
              <a:avLst/>
              <a:gdLst/>
              <a:ahLst/>
              <a:cxnLst/>
              <a:rect r="r" b="b" t="t" l="l"/>
              <a:pathLst>
                <a:path h="14630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0"/>
                  </a:lnTo>
                  <a:lnTo>
                    <a:pt x="0" y="146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202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05840" y="346710"/>
            <a:ext cx="1627632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Architectural Highlights – Level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7513" y="1813560"/>
            <a:ext cx="12762205" cy="451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955" indent="-242318" lvl="2">
              <a:lnSpc>
                <a:spcPts val="3816"/>
              </a:lnSpc>
              <a:buFont typeface="Arial"/>
              <a:buChar char="⚬"/>
            </a:pPr>
            <a:r>
              <a:rPr lang="en-US" b="true" sz="317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Two-tier architecture separating application and database layers</a:t>
            </a:r>
          </a:p>
          <a:p>
            <a:pPr algn="l" marL="726955" indent="-242318" lvl="2">
              <a:lnSpc>
                <a:spcPts val="3816"/>
              </a:lnSpc>
              <a:buFont typeface="Arial"/>
              <a:buChar char="⚬"/>
            </a:pPr>
            <a:r>
              <a:rPr lang="en-US" b="true" sz="3179">
                <a:solidFill>
                  <a:srgbClr val="DCDC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EC2 (WordPress) deployed in Public Subnet with controlled HTTP/HTTPS access</a:t>
            </a:r>
          </a:p>
          <a:p>
            <a:pPr algn="l" marL="726955" indent="-242318" lvl="2">
              <a:lnSpc>
                <a:spcPts val="3816"/>
              </a:lnSpc>
              <a:buFont typeface="Arial"/>
              <a:buChar char="⚬"/>
            </a:pPr>
            <a:r>
              <a:rPr lang="en-US" b="true" sz="3179">
                <a:solidFill>
                  <a:srgbClr val="DCDC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Amazon RDS (MySQL) deployed in Private Subnets – no public exposure</a:t>
            </a:r>
          </a:p>
          <a:p>
            <a:pPr algn="l" marL="726955" indent="-242318" lvl="2">
              <a:lnSpc>
                <a:spcPts val="3816"/>
              </a:lnSpc>
              <a:buFont typeface="Arial"/>
              <a:buChar char="⚬"/>
            </a:pPr>
            <a:r>
              <a:rPr lang="en-US" b="true" sz="3179">
                <a:solidFill>
                  <a:srgbClr val="DCDC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 Groups enforce least-privilege network rules (Port 3306 only from EC2)</a:t>
            </a:r>
          </a:p>
          <a:p>
            <a:pPr algn="l" marL="726955" indent="-242318" lvl="2">
              <a:lnSpc>
                <a:spcPts val="3816"/>
              </a:lnSpc>
              <a:buFont typeface="Arial"/>
              <a:buChar char="⚬"/>
            </a:pPr>
            <a:r>
              <a:rPr lang="en-US" b="true" sz="3179">
                <a:solidFill>
                  <a:srgbClr val="DCDC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Custom VPC with route tables and Internet Gateway for controlled traffic flow</a:t>
            </a:r>
          </a:p>
          <a:p>
            <a:pPr algn="l" marL="726955" indent="-242318" lvl="2">
              <a:lnSpc>
                <a:spcPts val="3816"/>
              </a:lnSpc>
              <a:buFont typeface="Arial"/>
              <a:buChar char="⚬"/>
            </a:pPr>
            <a:r>
              <a:rPr lang="en-US" b="true" sz="3179">
                <a:solidFill>
                  <a:srgbClr val="DCDC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Infrastructure fully provisioned and version-controlled using Terraform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7513" y="6415126"/>
            <a:ext cx="14447520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400" indent="-304800" lvl="2">
              <a:lnSpc>
                <a:spcPts val="4800"/>
              </a:lnSpc>
              <a:buFont typeface="Arial"/>
              <a:buChar char="⚬"/>
            </a:pPr>
            <a:r>
              <a:rPr lang="en-US" b="true" sz="4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 Group Configuration (Project Specific)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DCDCDC"/>
                </a:solidFill>
                <a:latin typeface="Calibri (MS)"/>
                <a:ea typeface="Calibri (MS)"/>
                <a:cs typeface="Calibri (MS)"/>
                <a:sym typeface="Calibri (MS)"/>
              </a:rPr>
              <a:t>Web-SG: Allows HTTP (80) and HTTPS (443) from 0.0.0.0/0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DCDCDC"/>
                </a:solidFill>
                <a:latin typeface="Calibri (MS)"/>
                <a:ea typeface="Calibri (MS)"/>
                <a:cs typeface="Calibri (MS)"/>
                <a:sym typeface="Calibri (MS)"/>
              </a:rPr>
              <a:t>SSH access restricted (admin-controlled access only)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DCDCDC"/>
                </a:solidFill>
                <a:latin typeface="Calibri (MS)"/>
                <a:ea typeface="Calibri (MS)"/>
                <a:cs typeface="Calibri (MS)"/>
                <a:sym typeface="Calibri (MS)"/>
              </a:rPr>
              <a:t>DB-SG: Allows MySQL (3306) traffic ONLY from Web-SG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DCDCDC"/>
                </a:solidFill>
                <a:latin typeface="Calibri (MS)"/>
                <a:ea typeface="Calibri (MS)"/>
                <a:cs typeface="Calibri (MS)"/>
                <a:sym typeface="Calibri (MS)"/>
              </a:rPr>
              <a:t>No public inbound rules configured on RDS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DCDCDC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Implements principle of least privilege network security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640" y="445770"/>
            <a:ext cx="17190720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Instance Load &amp; Monitoring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8165" y="1817370"/>
            <a:ext cx="8275320" cy="363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4B5EA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CPU utilization remains low (&lt; 3%) indicating efficient use of compute resources.</a:t>
            </a:r>
          </a:p>
          <a:p>
            <a:pPr algn="l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4B5EA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Network In/Out metrics show traffic spikes corresponding to user activity.</a:t>
            </a:r>
          </a:p>
          <a:p>
            <a:pPr algn="l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4B5EA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Network packets per second reflect moderate load on the instance.</a:t>
            </a:r>
          </a:p>
          <a:p>
            <a:pPr algn="l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4B5EA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CloudWatch graphs confirm health of the WordPress application in real time.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372600" y="1828800"/>
            <a:ext cx="8458200" cy="5486400"/>
            <a:chOff x="0" y="0"/>
            <a:chExt cx="11277600" cy="7315200"/>
          </a:xfrm>
        </p:grpSpPr>
        <p:sp>
          <p:nvSpPr>
            <p:cNvPr name="Freeform 5" id="5" descr="page_13.png"/>
            <p:cNvSpPr/>
            <p:nvPr/>
          </p:nvSpPr>
          <p:spPr>
            <a:xfrm flipH="false" flipV="false" rot="0">
              <a:off x="0" y="0"/>
              <a:ext cx="11277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2" r="0" b="-12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0972800" cy="1005840"/>
            <a:chOff x="0" y="0"/>
            <a:chExt cx="146304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16" r="0" b="-16241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17232"/>
            <a:ext cx="10972800" cy="1020127"/>
            <a:chOff x="0" y="0"/>
            <a:chExt cx="14630400" cy="1360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360170"/>
                  </a:lnTo>
                  <a:lnTo>
                    <a:pt x="0" y="13601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9586" r="0" b="-15958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6304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30A1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Compute &amp; Application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560320"/>
            <a:ext cx="8229600" cy="4572000"/>
            <a:chOff x="0" y="0"/>
            <a:chExt cx="10972800" cy="609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29" t="0" r="-2132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496026"/>
            <a:ext cx="8229600" cy="4636294"/>
            <a:chOff x="0" y="0"/>
            <a:chExt cx="10972800" cy="61817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6181725"/>
            </a:xfrm>
            <a:custGeom>
              <a:avLst/>
              <a:gdLst/>
              <a:ahLst/>
              <a:cxnLst/>
              <a:rect r="r" b="b" t="t" l="l"/>
              <a:pathLst>
                <a:path h="618172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181725"/>
                  </a:lnTo>
                  <a:lnTo>
                    <a:pt x="0" y="61817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282" t="0" r="-22282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0972800" cy="6267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8" b="true">
                  <a:solidFill>
                    <a:srgbClr val="030A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Amazon Linux 2 EC2</a:t>
              </a:r>
            </a:p>
            <a:p>
              <a:pPr algn="l">
                <a:lnSpc>
                  <a:spcPts val="4319"/>
                </a:lnSpc>
              </a:pPr>
              <a:r>
                <a:rPr lang="en-US" sz="3598" b="true">
                  <a:solidFill>
                    <a:srgbClr val="4456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Instances host the WordPress application and PHP stack.</a:t>
              </a:r>
            </a:p>
            <a:p>
              <a:pPr algn="l">
                <a:lnSpc>
                  <a:spcPts val="4319"/>
                </a:lnSpc>
              </a:pPr>
              <a:r>
                <a:rPr lang="en-US" sz="3598" b="true">
                  <a:solidFill>
                    <a:srgbClr val="4456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Bootstrapped via user data to install Apache, PHP and WordPress.</a:t>
              </a:r>
            </a:p>
            <a:p>
              <a:pPr algn="l">
                <a:lnSpc>
                  <a:spcPts val="4319"/>
                </a:lnSpc>
              </a:pPr>
              <a:r>
                <a:rPr lang="en-US" sz="3598" b="true">
                  <a:solidFill>
                    <a:srgbClr val="4456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Connects securely to RDS using private endpoints.</a:t>
              </a:r>
            </a:p>
          </p:txBody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005840" y="6766560"/>
            <a:ext cx="731520" cy="731520"/>
          </a:xfrm>
          <a:custGeom>
            <a:avLst/>
            <a:gdLst/>
            <a:ahLst/>
            <a:cxnLst/>
            <a:rect r="r" b="b" t="t" l="l"/>
            <a:pathLst>
              <a:path h="731520" w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920240" y="6766560"/>
            <a:ext cx="2743200" cy="731520"/>
            <a:chOff x="0" y="0"/>
            <a:chExt cx="365760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8" r="0" b="-2301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20240" y="6745129"/>
            <a:ext cx="2743200" cy="752951"/>
            <a:chOff x="0" y="0"/>
            <a:chExt cx="3657600" cy="10039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1003935"/>
            </a:xfrm>
            <a:custGeom>
              <a:avLst/>
              <a:gdLst/>
              <a:ahLst/>
              <a:cxnLst/>
              <a:rect r="r" b="b" t="t" l="l"/>
              <a:pathLst>
                <a:path h="100393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3935"/>
                  </a:lnTo>
                  <a:lnTo>
                    <a:pt x="0" y="10039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9" r="0" b="-2098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657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30A1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</a:t>
              </a:r>
            </a:p>
          </p:txBody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4663440" y="6766560"/>
            <a:ext cx="731520" cy="731520"/>
          </a:xfrm>
          <a:custGeom>
            <a:avLst/>
            <a:gdLst/>
            <a:ahLst/>
            <a:cxnLst/>
            <a:rect r="r" b="b" t="t" l="l"/>
            <a:pathLst>
              <a:path h="731520" w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2337" t="0" r="-12338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577840" y="6766560"/>
            <a:ext cx="2743200" cy="731520"/>
            <a:chOff x="0" y="0"/>
            <a:chExt cx="365760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975360"/>
            </a:xfrm>
            <a:custGeom>
              <a:avLst/>
              <a:gdLst/>
              <a:ahLst/>
              <a:cxnLst/>
              <a:rect r="r" b="b" t="t" l="l"/>
              <a:pathLst>
                <a:path h="9753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8" r="0" b="-23018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577840" y="6745129"/>
            <a:ext cx="2743200" cy="752951"/>
            <a:chOff x="0" y="0"/>
            <a:chExt cx="3657600" cy="10039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1003935"/>
            </a:xfrm>
            <a:custGeom>
              <a:avLst/>
              <a:gdLst/>
              <a:ahLst/>
              <a:cxnLst/>
              <a:rect r="r" b="b" t="t" l="l"/>
              <a:pathLst>
                <a:path h="100393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3935"/>
                  </a:lnTo>
                  <a:lnTo>
                    <a:pt x="0" y="10039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9" r="0" b="-2098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657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30A1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Data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92640" y="1891760"/>
            <a:ext cx="8270291" cy="5789200"/>
            <a:chOff x="0" y="0"/>
            <a:chExt cx="11027054" cy="7718933"/>
          </a:xfrm>
        </p:grpSpPr>
        <p:sp>
          <p:nvSpPr>
            <p:cNvPr name="Freeform 25" id="25" descr="/home/oai/share/png2pdf_page1.png"/>
            <p:cNvSpPr/>
            <p:nvPr/>
          </p:nvSpPr>
          <p:spPr>
            <a:xfrm flipH="false" flipV="false" rot="0">
              <a:off x="0" y="0"/>
              <a:ext cx="11027029" cy="7718933"/>
            </a:xfrm>
            <a:custGeom>
              <a:avLst/>
              <a:gdLst/>
              <a:ahLst/>
              <a:cxnLst/>
              <a:rect r="r" b="b" t="t" l="l"/>
              <a:pathLst>
                <a:path h="7718933" w="11027029">
                  <a:moveTo>
                    <a:pt x="0" y="0"/>
                  </a:moveTo>
                  <a:lnTo>
                    <a:pt x="11027029" y="0"/>
                  </a:lnTo>
                  <a:lnTo>
                    <a:pt x="11027029" y="7718933"/>
                  </a:lnTo>
                  <a:lnTo>
                    <a:pt x="0" y="7718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835" t="0" r="-3835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9555480"/>
            <a:ext cx="16459200" cy="457200"/>
            <a:chOff x="0" y="0"/>
            <a:chExt cx="2194560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972" r="0" b="-65097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9541193"/>
            <a:ext cx="16459200" cy="471488"/>
            <a:chOff x="0" y="0"/>
            <a:chExt cx="21945600" cy="6286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00" cy="628650"/>
            </a:xfrm>
            <a:custGeom>
              <a:avLst/>
              <a:gdLst/>
              <a:ahLst/>
              <a:cxnLst/>
              <a:rect r="r" b="b" t="t" l="l"/>
              <a:pathLst>
                <a:path h="6286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204" r="0" b="-63020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8"/>
                </a:lnSpc>
              </a:pPr>
              <a:r>
                <a:rPr lang="en-US" sz="1200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10" tooltip="https://raw.githubusercontent.com/MYGCREATIONS/CapstoneFinalProject/main/README.md#:~:text=emails%2C%20and%20instance%20types%20,instance%20in%20a%20DB"/>
                </a:rPr>
                <a:t>[9]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4630400" cy="1005840"/>
            <a:chOff x="0" y="0"/>
            <a:chExt cx="195072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221" r="0" b="-23322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17232"/>
            <a:ext cx="14630400" cy="1020127"/>
            <a:chOff x="0" y="0"/>
            <a:chExt cx="19507200" cy="1360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360170"/>
                  </a:lnTo>
                  <a:lnTo>
                    <a:pt x="0" y="13601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9449" r="0" b="-22944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95072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30A1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Infrastructure as Code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377440"/>
            <a:ext cx="6384293" cy="4331379"/>
            <a:chOff x="0" y="0"/>
            <a:chExt cx="8512391" cy="57751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12429" cy="5775198"/>
            </a:xfrm>
            <a:custGeom>
              <a:avLst/>
              <a:gdLst/>
              <a:ahLst/>
              <a:cxnLst/>
              <a:rect r="r" b="b" t="t" l="l"/>
              <a:pathLst>
                <a:path h="5775198" w="8512429">
                  <a:moveTo>
                    <a:pt x="0" y="0"/>
                  </a:moveTo>
                  <a:lnTo>
                    <a:pt x="8512429" y="0"/>
                  </a:lnTo>
                  <a:lnTo>
                    <a:pt x="8512429" y="5775198"/>
                  </a:lnTo>
                  <a:lnTo>
                    <a:pt x="0" y="57751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107" t="0" r="-3710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322024"/>
            <a:ext cx="6384293" cy="4386796"/>
            <a:chOff x="0" y="0"/>
            <a:chExt cx="8512391" cy="58490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12390" cy="5849065"/>
            </a:xfrm>
            <a:custGeom>
              <a:avLst/>
              <a:gdLst/>
              <a:ahLst/>
              <a:cxnLst/>
              <a:rect r="r" b="b" t="t" l="l"/>
              <a:pathLst>
                <a:path h="5849065" w="8512390">
                  <a:moveTo>
                    <a:pt x="0" y="0"/>
                  </a:moveTo>
                  <a:lnTo>
                    <a:pt x="8512390" y="0"/>
                  </a:lnTo>
                  <a:lnTo>
                    <a:pt x="8512390" y="5849065"/>
                  </a:lnTo>
                  <a:lnTo>
                    <a:pt x="0" y="58490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8160" t="0" r="-3816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8512391" cy="5944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18"/>
                </a:lnSpc>
              </a:pPr>
              <a:r>
                <a:rPr lang="en-US" sz="4599" b="true">
                  <a:solidFill>
                    <a:srgbClr val="030A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Modular Project Structure</a:t>
              </a:r>
            </a:p>
            <a:p>
              <a:pPr algn="l">
                <a:lnSpc>
                  <a:spcPts val="4559"/>
                </a:lnSpc>
              </a:pPr>
              <a:r>
                <a:rPr lang="en-US" sz="3799" b="true">
                  <a:solidFill>
                    <a:srgbClr val="4456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network, security, compute, rds modules</a:t>
              </a:r>
            </a:p>
            <a:p>
              <a:pPr algn="l">
                <a:lnSpc>
                  <a:spcPts val="4559"/>
                </a:lnSpc>
              </a:pPr>
              <a:r>
                <a:rPr lang="en-US" sz="3799" b="true">
                  <a:solidFill>
                    <a:srgbClr val="4456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main.tf orchestrates modules and providers</a:t>
              </a:r>
            </a:p>
            <a:p>
              <a:pPr algn="l">
                <a:lnSpc>
                  <a:spcPts val="4559"/>
                </a:lnSpc>
              </a:pPr>
              <a:r>
                <a:rPr lang="en-US" sz="3799" b="true">
                  <a:solidFill>
                    <a:srgbClr val="4456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userdata.sh bootstraps WordPress on EC2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679943" y="2547623"/>
            <a:ext cx="1305592" cy="939736"/>
          </a:xfrm>
          <a:custGeom>
            <a:avLst/>
            <a:gdLst/>
            <a:ahLst/>
            <a:cxnLst/>
            <a:rect r="r" b="b" t="t" l="l"/>
            <a:pathLst>
              <a:path h="939736" w="1305592">
                <a:moveTo>
                  <a:pt x="0" y="0"/>
                </a:moveTo>
                <a:lnTo>
                  <a:pt x="1305592" y="0"/>
                </a:lnTo>
                <a:lnTo>
                  <a:pt x="1305592" y="939737"/>
                </a:lnTo>
                <a:lnTo>
                  <a:pt x="0" y="9397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692640" y="2560320"/>
            <a:ext cx="1280160" cy="914400"/>
            <a:chOff x="0" y="0"/>
            <a:chExt cx="170688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709" t="0" r="-41709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92640" y="2538889"/>
            <a:ext cx="1280160" cy="935831"/>
            <a:chOff x="0" y="0"/>
            <a:chExt cx="1706880" cy="12477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0" cy="1247775"/>
            </a:xfrm>
            <a:custGeom>
              <a:avLst/>
              <a:gdLst/>
              <a:ahLst/>
              <a:cxnLst/>
              <a:rect r="r" b="b" t="t" l="l"/>
              <a:pathLst>
                <a:path h="124777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47775"/>
                  </a:lnTo>
                  <a:lnTo>
                    <a:pt x="0" y="1247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793" t="0" r="-4379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7068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Clone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960103" y="2913393"/>
            <a:ext cx="482632" cy="208359"/>
          </a:xfrm>
          <a:custGeom>
            <a:avLst/>
            <a:gdLst/>
            <a:ahLst/>
            <a:cxnLst/>
            <a:rect r="r" b="b" t="t" l="l"/>
            <a:pathLst>
              <a:path h="208359" w="482632">
                <a:moveTo>
                  <a:pt x="0" y="0"/>
                </a:moveTo>
                <a:lnTo>
                  <a:pt x="482632" y="0"/>
                </a:lnTo>
                <a:lnTo>
                  <a:pt x="482632" y="208359"/>
                </a:lnTo>
                <a:lnTo>
                  <a:pt x="0" y="2083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508743" y="2547623"/>
            <a:ext cx="1305592" cy="939736"/>
          </a:xfrm>
          <a:custGeom>
            <a:avLst/>
            <a:gdLst/>
            <a:ahLst/>
            <a:cxnLst/>
            <a:rect r="r" b="b" t="t" l="l"/>
            <a:pathLst>
              <a:path h="939736" w="1305592">
                <a:moveTo>
                  <a:pt x="0" y="0"/>
                </a:moveTo>
                <a:lnTo>
                  <a:pt x="1305592" y="0"/>
                </a:lnTo>
                <a:lnTo>
                  <a:pt x="1305592" y="939737"/>
                </a:lnTo>
                <a:lnTo>
                  <a:pt x="0" y="9397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521440" y="2560320"/>
            <a:ext cx="1280160" cy="914400"/>
            <a:chOff x="0" y="0"/>
            <a:chExt cx="170688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709" t="0" r="-41709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521440" y="2538889"/>
            <a:ext cx="1280160" cy="935831"/>
            <a:chOff x="0" y="0"/>
            <a:chExt cx="1706880" cy="12477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6880" cy="1247775"/>
            </a:xfrm>
            <a:custGeom>
              <a:avLst/>
              <a:gdLst/>
              <a:ahLst/>
              <a:cxnLst/>
              <a:rect r="r" b="b" t="t" l="l"/>
              <a:pathLst>
                <a:path h="124777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47775"/>
                  </a:lnTo>
                  <a:lnTo>
                    <a:pt x="0" y="1247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793" t="0" r="-4379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7068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Configure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2788903" y="2913393"/>
            <a:ext cx="482632" cy="208359"/>
          </a:xfrm>
          <a:custGeom>
            <a:avLst/>
            <a:gdLst/>
            <a:ahLst/>
            <a:cxnLst/>
            <a:rect r="r" b="b" t="t" l="l"/>
            <a:pathLst>
              <a:path h="208359" w="482632">
                <a:moveTo>
                  <a:pt x="0" y="0"/>
                </a:moveTo>
                <a:lnTo>
                  <a:pt x="482632" y="0"/>
                </a:lnTo>
                <a:lnTo>
                  <a:pt x="482632" y="208359"/>
                </a:lnTo>
                <a:lnTo>
                  <a:pt x="0" y="2083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337543" y="2547623"/>
            <a:ext cx="1305592" cy="939736"/>
          </a:xfrm>
          <a:custGeom>
            <a:avLst/>
            <a:gdLst/>
            <a:ahLst/>
            <a:cxnLst/>
            <a:rect r="r" b="b" t="t" l="l"/>
            <a:pathLst>
              <a:path h="939736" w="1305592">
                <a:moveTo>
                  <a:pt x="0" y="0"/>
                </a:moveTo>
                <a:lnTo>
                  <a:pt x="1305592" y="0"/>
                </a:lnTo>
                <a:lnTo>
                  <a:pt x="1305592" y="939737"/>
                </a:lnTo>
                <a:lnTo>
                  <a:pt x="0" y="9397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3350240" y="2560320"/>
            <a:ext cx="1280160" cy="914400"/>
            <a:chOff x="0" y="0"/>
            <a:chExt cx="170688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06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709" t="0" r="-41709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350240" y="2538889"/>
            <a:ext cx="1280160" cy="935831"/>
            <a:chOff x="0" y="0"/>
            <a:chExt cx="1706880" cy="12477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06880" cy="1247775"/>
            </a:xfrm>
            <a:custGeom>
              <a:avLst/>
              <a:gdLst/>
              <a:ahLst/>
              <a:cxnLst/>
              <a:rect r="r" b="b" t="t" l="l"/>
              <a:pathLst>
                <a:path h="124777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47775"/>
                  </a:lnTo>
                  <a:lnTo>
                    <a:pt x="0" y="1247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793" t="0" r="-4379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7068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Init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4617703" y="2913393"/>
            <a:ext cx="482632" cy="208359"/>
          </a:xfrm>
          <a:custGeom>
            <a:avLst/>
            <a:gdLst/>
            <a:ahLst/>
            <a:cxnLst/>
            <a:rect r="r" b="b" t="t" l="l"/>
            <a:pathLst>
              <a:path h="208359" w="482632">
                <a:moveTo>
                  <a:pt x="0" y="0"/>
                </a:moveTo>
                <a:lnTo>
                  <a:pt x="482632" y="0"/>
                </a:lnTo>
                <a:lnTo>
                  <a:pt x="482632" y="208359"/>
                </a:lnTo>
                <a:lnTo>
                  <a:pt x="0" y="2083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166343" y="2547623"/>
            <a:ext cx="1305592" cy="939736"/>
          </a:xfrm>
          <a:custGeom>
            <a:avLst/>
            <a:gdLst/>
            <a:ahLst/>
            <a:cxnLst/>
            <a:rect r="r" b="b" t="t" l="l"/>
            <a:pathLst>
              <a:path h="939736" w="1305592">
                <a:moveTo>
                  <a:pt x="0" y="0"/>
                </a:moveTo>
                <a:lnTo>
                  <a:pt x="1305592" y="0"/>
                </a:lnTo>
                <a:lnTo>
                  <a:pt x="1305592" y="939737"/>
                </a:lnTo>
                <a:lnTo>
                  <a:pt x="0" y="9397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5179040" y="2560320"/>
            <a:ext cx="1280160" cy="914400"/>
            <a:chOff x="0" y="0"/>
            <a:chExt cx="170688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06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709" t="0" r="-41709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179040" y="2538889"/>
            <a:ext cx="1280160" cy="935831"/>
            <a:chOff x="0" y="0"/>
            <a:chExt cx="1706880" cy="12477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06880" cy="1247775"/>
            </a:xfrm>
            <a:custGeom>
              <a:avLst/>
              <a:gdLst/>
              <a:ahLst/>
              <a:cxnLst/>
              <a:rect r="r" b="b" t="t" l="l"/>
              <a:pathLst>
                <a:path h="124777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47775"/>
                  </a:lnTo>
                  <a:lnTo>
                    <a:pt x="0" y="1247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793" t="0" r="-4379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7068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6446503" y="2913393"/>
            <a:ext cx="482632" cy="208359"/>
          </a:xfrm>
          <a:custGeom>
            <a:avLst/>
            <a:gdLst/>
            <a:ahLst/>
            <a:cxnLst/>
            <a:rect r="r" b="b" t="t" l="l"/>
            <a:pathLst>
              <a:path h="208359" w="482632">
                <a:moveTo>
                  <a:pt x="0" y="0"/>
                </a:moveTo>
                <a:lnTo>
                  <a:pt x="482632" y="0"/>
                </a:lnTo>
                <a:lnTo>
                  <a:pt x="482632" y="208359"/>
                </a:lnTo>
                <a:lnTo>
                  <a:pt x="0" y="2083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6995143" y="2547623"/>
            <a:ext cx="1305592" cy="939736"/>
          </a:xfrm>
          <a:custGeom>
            <a:avLst/>
            <a:gdLst/>
            <a:ahLst/>
            <a:cxnLst/>
            <a:rect r="r" b="b" t="t" l="l"/>
            <a:pathLst>
              <a:path h="939736" w="1305592">
                <a:moveTo>
                  <a:pt x="0" y="0"/>
                </a:moveTo>
                <a:lnTo>
                  <a:pt x="1305592" y="0"/>
                </a:lnTo>
                <a:lnTo>
                  <a:pt x="1305592" y="939737"/>
                </a:lnTo>
                <a:lnTo>
                  <a:pt x="0" y="93973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7007840" y="2560320"/>
            <a:ext cx="1280160" cy="914400"/>
            <a:chOff x="0" y="0"/>
            <a:chExt cx="170688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709" t="0" r="-41709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7007840" y="2538889"/>
            <a:ext cx="1280160" cy="935831"/>
            <a:chOff x="0" y="0"/>
            <a:chExt cx="1706880" cy="124777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06880" cy="1247775"/>
            </a:xfrm>
            <a:custGeom>
              <a:avLst/>
              <a:gdLst/>
              <a:ahLst/>
              <a:cxnLst/>
              <a:rect r="r" b="b" t="t" l="l"/>
              <a:pathLst>
                <a:path h="124777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47775"/>
                  </a:lnTo>
                  <a:lnTo>
                    <a:pt x="0" y="1247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793" t="0" r="-4379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7068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4400" y="9555480"/>
            <a:ext cx="16459200" cy="457200"/>
            <a:chOff x="0" y="0"/>
            <a:chExt cx="2194560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972" r="0" b="-65097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14400" y="9541193"/>
            <a:ext cx="16459200" cy="471488"/>
            <a:chOff x="0" y="0"/>
            <a:chExt cx="21945600" cy="6286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45600" cy="628650"/>
            </a:xfrm>
            <a:custGeom>
              <a:avLst/>
              <a:gdLst/>
              <a:ahLst/>
              <a:cxnLst/>
              <a:rect r="r" b="b" t="t" l="l"/>
              <a:pathLst>
                <a:path h="6286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204" r="0" b="-63020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8"/>
                </a:lnSpc>
              </a:pPr>
              <a:r>
                <a:rPr lang="en-US" sz="1200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17" tooltip="https://raw.githubusercontent.com/MYGCREATIONS/CapstoneFinalProject/main/README.md#:~:text=publicly%20accessible.%20,The"/>
                </a:rPr>
                <a:t>[10]</a:t>
              </a:r>
              <a:r>
                <a:rPr lang="en-US" sz="1200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18" tooltip="https://raw.githubusercontent.com/MYGCREATIONS/CapstoneFinalProject/main/README.md#:~:text=SSH%20access%20is%20enabled%29%20,9.%20Outputs%20After"/>
                </a:rPr>
                <a:t>[11]</a:t>
              </a:r>
              <a:r>
                <a:rPr lang="en-US" sz="1200" u="sng">
                  <a:solidFill>
                    <a:srgbClr val="0563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[12]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640" y="445770"/>
            <a:ext cx="17190720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Author Profile Page (Live)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" y="1807845"/>
            <a:ext cx="8275320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4BAE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Showcases the personal portfolio page served from the live WordPress site.</a:t>
            </a:r>
          </a:p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4BAE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Features a profile picture and a detailed bio summarizing experience and skills.</a:t>
            </a:r>
          </a:p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4BAE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Demonstrates dynamic content rendering and user-focused pages in the deployment.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372600" y="1828800"/>
            <a:ext cx="8458200" cy="5486400"/>
            <a:chOff x="0" y="0"/>
            <a:chExt cx="11277600" cy="7315200"/>
          </a:xfrm>
        </p:grpSpPr>
        <p:sp>
          <p:nvSpPr>
            <p:cNvPr name="Freeform 5" id="5" descr="page_8.png"/>
            <p:cNvSpPr/>
            <p:nvPr/>
          </p:nvSpPr>
          <p:spPr>
            <a:xfrm flipH="false" flipV="false" rot="0">
              <a:off x="0" y="0"/>
              <a:ext cx="11277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2" r="0" b="-122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640" y="445770"/>
            <a:ext cx="17190720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 Blog Page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640" y="1788795"/>
            <a:ext cx="8275320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9"/>
              </a:lnSpc>
            </a:pPr>
          </a:p>
          <a:p>
            <a:pPr algn="l">
              <a:lnSpc>
                <a:spcPts val="3959"/>
              </a:lnSpc>
            </a:pPr>
            <a:r>
              <a:rPr lang="en-US" b="true" sz="3299">
                <a:solidFill>
                  <a:srgbClr val="4BAE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Demonstrates that the WordPress blog is functioning correctly on the deployed infrastructure.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372600" y="1828800"/>
            <a:ext cx="8458200" cy="5486400"/>
            <a:chOff x="0" y="0"/>
            <a:chExt cx="11277600" cy="7315200"/>
          </a:xfrm>
        </p:grpSpPr>
        <p:sp>
          <p:nvSpPr>
            <p:cNvPr name="Freeform 5" id="5" descr="page_7.png"/>
            <p:cNvSpPr/>
            <p:nvPr/>
          </p:nvSpPr>
          <p:spPr>
            <a:xfrm flipH="false" flipV="false" rot="0">
              <a:off x="0" y="0"/>
              <a:ext cx="11277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2" r="0" b="-122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4630400" cy="1005840"/>
            <a:chOff x="0" y="0"/>
            <a:chExt cx="195072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221" r="0" b="-23322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17232"/>
            <a:ext cx="14630400" cy="1020127"/>
            <a:chOff x="0" y="0"/>
            <a:chExt cx="19507200" cy="1360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360170"/>
                  </a:lnTo>
                  <a:lnTo>
                    <a:pt x="0" y="13601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9449" r="0" b="-22944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95072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30A1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Future Enhancements</a:t>
              </a:r>
            </a:p>
          </p:txBody>
        </p:sp>
      </p:grpSp>
      <p:sp>
        <p:nvSpPr>
          <p:cNvPr name="Freeform 7" id="7" descr="preencoded.png"/>
          <p:cNvSpPr/>
          <p:nvPr/>
        </p:nvSpPr>
        <p:spPr>
          <a:xfrm flipH="false" flipV="false" rot="0">
            <a:off x="914400" y="2560320"/>
            <a:ext cx="731520" cy="731520"/>
          </a:xfrm>
          <a:custGeom>
            <a:avLst/>
            <a:gdLst/>
            <a:ahLst/>
            <a:cxnLst/>
            <a:rect r="r" b="b" t="t" l="l"/>
            <a:pathLst>
              <a:path h="731520" w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28800" y="2560320"/>
            <a:ext cx="7132320" cy="457200"/>
            <a:chOff x="0" y="0"/>
            <a:chExt cx="950976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0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756" r="0" b="-25375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28800" y="2538889"/>
            <a:ext cx="7132320" cy="478631"/>
            <a:chOff x="0" y="0"/>
            <a:chExt cx="9509760" cy="6381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638175"/>
            </a:xfrm>
            <a:custGeom>
              <a:avLst/>
              <a:gdLst/>
              <a:ahLst/>
              <a:cxnLst/>
              <a:rect r="r" b="b" t="t" l="l"/>
              <a:pathLst>
                <a:path h="638175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8175"/>
                  </a:lnTo>
                  <a:lnTo>
                    <a:pt x="0" y="6381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0356" r="0" b="-24035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950976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30A1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Bastion Host &amp; NAT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3291840"/>
            <a:ext cx="8229600" cy="1828800"/>
            <a:chOff x="0" y="0"/>
            <a:chExt cx="10972800" cy="2438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21" r="0" b="-3762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3277553"/>
            <a:ext cx="8229600" cy="1843088"/>
            <a:chOff x="0" y="0"/>
            <a:chExt cx="10972800" cy="2457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2457450"/>
            </a:xfrm>
            <a:custGeom>
              <a:avLst/>
              <a:gdLst/>
              <a:ahLst/>
              <a:cxnLst/>
              <a:rect r="r" b="b" t="t" l="l"/>
              <a:pathLst>
                <a:path h="24574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02" r="0" b="-3700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97280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8"/>
                </a:lnSpc>
              </a:pPr>
              <a:r>
                <a:rPr lang="en-US" sz="2699" b="true">
                  <a:solidFill>
                    <a:srgbClr val="445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Isolate administration and enable outbound internet for private subnets.</a:t>
              </a:r>
            </a:p>
          </p:txBody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9326880" y="2560320"/>
            <a:ext cx="731520" cy="731520"/>
          </a:xfrm>
          <a:custGeom>
            <a:avLst/>
            <a:gdLst/>
            <a:ahLst/>
            <a:cxnLst/>
            <a:rect r="r" b="b" t="t" l="l"/>
            <a:pathLst>
              <a:path h="731520" w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2986" t="0" r="-12986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241280" y="2560320"/>
            <a:ext cx="7132320" cy="457200"/>
            <a:chOff x="0" y="0"/>
            <a:chExt cx="950976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756" r="0" b="-253754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241280" y="2538889"/>
            <a:ext cx="7132320" cy="478631"/>
            <a:chOff x="0" y="0"/>
            <a:chExt cx="9509760" cy="6381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09760" cy="638175"/>
            </a:xfrm>
            <a:custGeom>
              <a:avLst/>
              <a:gdLst/>
              <a:ahLst/>
              <a:cxnLst/>
              <a:rect r="r" b="b" t="t" l="l"/>
              <a:pathLst>
                <a:path h="638175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8175"/>
                  </a:lnTo>
                  <a:lnTo>
                    <a:pt x="0" y="6381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0356" r="0" b="-24035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950976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30A1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Load Balancing &amp; ASG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26880" y="3291840"/>
            <a:ext cx="8229600" cy="1828800"/>
            <a:chOff x="0" y="0"/>
            <a:chExt cx="10972800" cy="2438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21" r="0" b="-3762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326880" y="3277553"/>
            <a:ext cx="8229600" cy="1843088"/>
            <a:chOff x="0" y="0"/>
            <a:chExt cx="10972800" cy="24574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2457450"/>
            </a:xfrm>
            <a:custGeom>
              <a:avLst/>
              <a:gdLst/>
              <a:ahLst/>
              <a:cxnLst/>
              <a:rect r="r" b="b" t="t" l="l"/>
              <a:pathLst>
                <a:path h="24574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02" r="0" b="-3700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097280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445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 multiple EC2 instances behind an Application Load Balancer and Auto Scaling Group.</a:t>
              </a:r>
            </a:p>
          </p:txBody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914400" y="5669280"/>
            <a:ext cx="731520" cy="731520"/>
          </a:xfrm>
          <a:custGeom>
            <a:avLst/>
            <a:gdLst/>
            <a:ahLst/>
            <a:cxnLst/>
            <a:rect r="r" b="b" t="t" l="l"/>
            <a:pathLst>
              <a:path h="731520" w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143" r="0" b="-7141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828800" y="5669280"/>
            <a:ext cx="7132320" cy="457200"/>
            <a:chOff x="0" y="0"/>
            <a:chExt cx="950976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0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756" r="0" b="-253754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828800" y="5647849"/>
            <a:ext cx="7132320" cy="478631"/>
            <a:chOff x="0" y="0"/>
            <a:chExt cx="9509760" cy="6381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0" cy="638175"/>
            </a:xfrm>
            <a:custGeom>
              <a:avLst/>
              <a:gdLst/>
              <a:ahLst/>
              <a:cxnLst/>
              <a:rect r="r" b="b" t="t" l="l"/>
              <a:pathLst>
                <a:path h="638175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8175"/>
                  </a:lnTo>
                  <a:lnTo>
                    <a:pt x="0" y="6381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0356" r="0" b="-24035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950976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30A1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HTTPS &amp; Secrets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6400800"/>
            <a:ext cx="8229600" cy="1828800"/>
            <a:chOff x="0" y="0"/>
            <a:chExt cx="10972800" cy="2438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21" r="0" b="-37621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" y="6386512"/>
            <a:ext cx="8229600" cy="1843088"/>
            <a:chOff x="0" y="0"/>
            <a:chExt cx="10972800" cy="24574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2457450"/>
            </a:xfrm>
            <a:custGeom>
              <a:avLst/>
              <a:gdLst/>
              <a:ahLst/>
              <a:cxnLst/>
              <a:rect r="r" b="b" t="t" l="l"/>
              <a:pathLst>
                <a:path h="24574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02" r="0" b="-3700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097280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8"/>
                </a:lnSpc>
              </a:pPr>
              <a:r>
                <a:rPr lang="en-US" sz="2699" b="true">
                  <a:solidFill>
                    <a:srgbClr val="445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 ACM certificates and store sensitive data in Secrets Manager.</a:t>
              </a:r>
            </a:p>
          </p:txBody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9326880" y="5669280"/>
            <a:ext cx="731520" cy="731520"/>
          </a:xfrm>
          <a:custGeom>
            <a:avLst/>
            <a:gdLst/>
            <a:ahLst/>
            <a:cxnLst/>
            <a:rect r="r" b="b" t="t" l="l"/>
            <a:pathLst>
              <a:path h="731520" w="731520">
                <a:moveTo>
                  <a:pt x="0" y="0"/>
                </a:moveTo>
                <a:lnTo>
                  <a:pt x="731520" y="0"/>
                </a:lnTo>
                <a:lnTo>
                  <a:pt x="73152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0241280" y="5669280"/>
            <a:ext cx="7132320" cy="457200"/>
            <a:chOff x="0" y="0"/>
            <a:chExt cx="9509760" cy="609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09760" cy="609600"/>
            </a:xfrm>
            <a:custGeom>
              <a:avLst/>
              <a:gdLst/>
              <a:ahLst/>
              <a:cxnLst/>
              <a:rect r="r" b="b" t="t" l="l"/>
              <a:pathLst>
                <a:path h="6096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756" r="0" b="-253754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241280" y="5647849"/>
            <a:ext cx="7132320" cy="478631"/>
            <a:chOff x="0" y="0"/>
            <a:chExt cx="9509760" cy="63817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09760" cy="638175"/>
            </a:xfrm>
            <a:custGeom>
              <a:avLst/>
              <a:gdLst/>
              <a:ahLst/>
              <a:cxnLst/>
              <a:rect r="r" b="b" t="t" l="l"/>
              <a:pathLst>
                <a:path h="638175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8175"/>
                  </a:lnTo>
                  <a:lnTo>
                    <a:pt x="0" y="6381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0356" r="0" b="-24035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950976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30A1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Monitoring &amp; Launch Templates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26880" y="6400800"/>
            <a:ext cx="8229600" cy="1828800"/>
            <a:chOff x="0" y="0"/>
            <a:chExt cx="10972800" cy="2438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21" r="0" b="-37621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326880" y="6386512"/>
            <a:ext cx="8229600" cy="1843088"/>
            <a:chOff x="0" y="0"/>
            <a:chExt cx="10972800" cy="24574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2457450"/>
            </a:xfrm>
            <a:custGeom>
              <a:avLst/>
              <a:gdLst/>
              <a:ahLst/>
              <a:cxnLst/>
              <a:rect r="r" b="b" t="t" l="l"/>
              <a:pathLst>
                <a:path h="245745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02" r="0" b="-3700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097280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445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Add CloudWatch alarms and convert compute resources to launch templates.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4400" y="9555480"/>
            <a:ext cx="16459200" cy="457200"/>
            <a:chOff x="0" y="0"/>
            <a:chExt cx="21945600" cy="609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972" r="0" b="-650975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0" y="9541193"/>
            <a:ext cx="16459200" cy="471488"/>
            <a:chOff x="0" y="0"/>
            <a:chExt cx="21945600" cy="6286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00" cy="628650"/>
            </a:xfrm>
            <a:custGeom>
              <a:avLst/>
              <a:gdLst/>
              <a:ahLst/>
              <a:cxnLst/>
              <a:rect r="r" b="b" t="t" l="l"/>
              <a:pathLst>
                <a:path h="6286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204" r="0" b="-63020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8"/>
                </a:lnSpc>
              </a:pPr>
              <a:r>
                <a:rPr lang="en-US" sz="1200" u="sng">
                  <a:solidFill>
                    <a:srgbClr val="0563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[18]</a:t>
              </a:r>
              <a:r>
                <a:rPr lang="en-US" sz="1200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13" tooltip="https://raw.githubusercontent.com/MYGCREATIONS/CapstoneFinalProject/main/README.md#:~:text=resources.%20,CloudWatch%20monitoring%20and%20alarms%206"/>
                </a:rPr>
                <a:t>[19]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624" r="0" b="-26862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17232"/>
            <a:ext cx="16459200" cy="1020127"/>
            <a:chOff x="0" y="0"/>
            <a:chExt cx="21945600" cy="1360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60170"/>
            </a:xfrm>
            <a:custGeom>
              <a:avLst/>
              <a:gdLst/>
              <a:ahLst/>
              <a:cxnLst/>
              <a:rect r="r" b="b" t="t" l="l"/>
              <a:pathLst>
                <a:path h="136017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60170"/>
                  </a:lnTo>
                  <a:lnTo>
                    <a:pt x="0" y="13601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4380" r="0" b="-2643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30A1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 &amp; Key Takeaways</a:t>
              </a:r>
            </a:p>
          </p:txBody>
        </p:sp>
      </p:grpSp>
      <p:sp>
        <p:nvSpPr>
          <p:cNvPr name="Freeform 7" id="7" descr="preencoded.png"/>
          <p:cNvSpPr/>
          <p:nvPr/>
        </p:nvSpPr>
        <p:spPr>
          <a:xfrm flipH="false" flipV="false" rot="0">
            <a:off x="914400" y="237744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914400" w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28800" y="3046247"/>
            <a:ext cx="15544800" cy="5486400"/>
            <a:chOff x="0" y="0"/>
            <a:chExt cx="20726400" cy="731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9" r="0" b="-51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28800" y="2981954"/>
            <a:ext cx="15544800" cy="5550694"/>
            <a:chOff x="0" y="0"/>
            <a:chExt cx="20726400" cy="74009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726400" cy="7400925"/>
            </a:xfrm>
            <a:custGeom>
              <a:avLst/>
              <a:gdLst/>
              <a:ahLst/>
              <a:cxnLst/>
              <a:rect r="r" b="b" t="t" l="l"/>
              <a:pathLst>
                <a:path h="7400925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400925"/>
                  </a:lnTo>
                  <a:lnTo>
                    <a:pt x="0" y="7400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68" r="0" b="-456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0726400" cy="7486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030A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Two‑tier architectures provide a balance of simplicity and security.</a:t>
              </a:r>
            </a:p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4456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 isolating the database and using scoped security groups, we protect sensitive data and reduce attack surfaces.</a:t>
              </a:r>
            </a:p>
            <a:p>
              <a:pPr algn="l">
                <a:lnSpc>
                  <a:spcPts val="4199"/>
                </a:lnSpc>
              </a:pPr>
            </a:p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4456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Infrastructure as Code enables repeatable, auditable deployments that scale with project complexity.</a:t>
              </a:r>
            </a:p>
            <a:p>
              <a:pPr algn="l">
                <a:lnSpc>
                  <a:spcPts val="4199"/>
                </a:lnSpc>
              </a:pPr>
            </a:p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4456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Continuous improvement—adding load balancing, auto‑scaling, HTTPS and monitoring—prepares the system for production workloads.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9555480"/>
            <a:ext cx="16459200" cy="457200"/>
            <a:chOff x="0" y="0"/>
            <a:chExt cx="21945600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972" r="0" b="-65097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9541193"/>
            <a:ext cx="16459200" cy="471488"/>
            <a:chOff x="0" y="0"/>
            <a:chExt cx="21945600" cy="6286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628650"/>
            </a:xfrm>
            <a:custGeom>
              <a:avLst/>
              <a:gdLst/>
              <a:ahLst/>
              <a:cxnLst/>
              <a:rect r="r" b="b" t="t" l="l"/>
              <a:pathLst>
                <a:path h="6286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204" r="0" b="-63020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8"/>
                </a:lnSpc>
              </a:pPr>
              <a:r>
                <a:rPr lang="en-US" sz="1200" u="sng">
                  <a:solidFill>
                    <a:srgbClr val="0563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[20]</a:t>
              </a:r>
              <a:r>
                <a:rPr lang="en-US" sz="1200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7" tooltip="https://raw.githubusercontent.com/MYGCREATIONS/CapstoneFinalProject/main/README.md#:~:text=resources.%20,CloudWatch%20monitoring%20and%20alarms%206"/>
                </a:rPr>
                <a:t>[21]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DAHBTXgocD4</dc:identifier>
  <dcterms:modified xsi:type="dcterms:W3CDTF">2011-08-01T06:04:30Z</dcterms:modified>
  <cp:revision>1</cp:revision>
  <dc:title>Copy of FinalAwsCoursePresenation_final.pptx</dc:title>
</cp:coreProperties>
</file>